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71" r:id="rId12"/>
    <p:sldId id="267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dn.botpress.cloud/webchat/v3.2/shareable.html?configUrl=https://files.bpcontent.cloud/2025/08/27/09/20250827091647-NHHTAVQZ.jso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2011-2097-899A-E6A5-B4919C624A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Ai-powered Study ASSISTANT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8B75E-5287-6CD0-A00C-52C78EB1F8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Sector: education</a:t>
            </a:r>
          </a:p>
          <a:p>
            <a:r>
              <a:rPr lang="en-US" dirty="0"/>
              <a:t>Team members: </a:t>
            </a:r>
            <a:r>
              <a:rPr lang="en-ZA" dirty="0"/>
              <a:t>Lukhona Dukuza; Iviwe Hlatana; Caleigh goliath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66247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7597C-3A67-248D-4178-1E48FC58F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Sector overview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ECD1A-2AC0-8CC2-3D9A-BA5CAD388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ZA" dirty="0"/>
              <a:t>AI is transforming education.</a:t>
            </a:r>
          </a:p>
          <a:p>
            <a:pPr lvl="0"/>
            <a:r>
              <a:rPr lang="en-ZA" dirty="0"/>
              <a:t>Focus areas: personalized learning, tutoring, content creation.</a:t>
            </a:r>
          </a:p>
          <a:p>
            <a:pPr lvl="0"/>
            <a:r>
              <a:rPr lang="en-ZA" dirty="0"/>
              <a:t>Our project explores how AI can help students study more effectively.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84567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AF4A9-0233-E56D-9F6B-F29F2A6FD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AI APPLICATIONS IN EDUCATION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DE3BB-1240-A445-D770-B19387F74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45920"/>
            <a:ext cx="9905999" cy="4914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Duolingo – AI-driven language learning.</a:t>
            </a:r>
          </a:p>
          <a:p>
            <a:pPr marL="0" indent="0">
              <a:buNone/>
            </a:pPr>
            <a:r>
              <a:rPr lang="en-US" dirty="0"/>
              <a:t> 	- Uses ML to personalize lessons.</a:t>
            </a:r>
          </a:p>
          <a:p>
            <a:pPr marL="0" indent="0">
              <a:buNone/>
            </a:pPr>
            <a:r>
              <a:rPr lang="en-US" dirty="0"/>
              <a:t>	-Adapts exercises based on user performance.</a:t>
            </a:r>
          </a:p>
          <a:p>
            <a:pPr marL="0" indent="0">
              <a:buNone/>
            </a:pPr>
            <a:r>
              <a:rPr lang="en-US" dirty="0"/>
              <a:t>2. Quizlet – Flashcards and quizzes powered by AI.</a:t>
            </a:r>
          </a:p>
          <a:p>
            <a:pPr marL="0" indent="0">
              <a:buNone/>
            </a:pPr>
            <a:r>
              <a:rPr lang="en-US" dirty="0"/>
              <a:t>	-Uses AI to suggest relevant practice questions.</a:t>
            </a:r>
          </a:p>
          <a:p>
            <a:pPr marL="0" indent="0">
              <a:buNone/>
            </a:pPr>
            <a:r>
              <a:rPr lang="en-US" dirty="0"/>
              <a:t>	- Allows students to generate customized quizzes from study material.</a:t>
            </a:r>
          </a:p>
          <a:p>
            <a:pPr marL="0" indent="0">
              <a:buNone/>
            </a:pPr>
            <a:r>
              <a:rPr lang="en-US" dirty="0"/>
              <a:t>3. Socratic by Google – AI tutor that explains problems step-by-step.</a:t>
            </a:r>
          </a:p>
          <a:p>
            <a:pPr marL="0" indent="0">
              <a:buNone/>
            </a:pPr>
            <a:r>
              <a:rPr lang="en-US" dirty="0"/>
              <a:t>	- Uses computer vision and NLP to interpret questions</a:t>
            </a:r>
          </a:p>
          <a:p>
            <a:pPr marL="0" indent="0">
              <a:buNone/>
            </a:pPr>
            <a:r>
              <a:rPr lang="en-US" dirty="0"/>
              <a:t>	- Provides step-by-step explanations and guided learning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47199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98B5-7D13-11FA-B42D-0AFBE07E4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8460D-ECCD-F8E0-21C5-401D796D4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ZA" dirty="0"/>
              <a:t>Students struggle to summarize and revise large volumes of notes.</a:t>
            </a:r>
          </a:p>
          <a:p>
            <a:pPr lvl="0"/>
            <a:r>
              <a:rPr lang="en-ZA" dirty="0"/>
              <a:t>Limited access to personalized study support.</a:t>
            </a:r>
          </a:p>
          <a:p>
            <a:pPr lvl="0"/>
            <a:r>
              <a:rPr lang="en-ZA" b="1" dirty="0"/>
              <a:t>Impact metric:</a:t>
            </a:r>
            <a:r>
              <a:rPr lang="en-ZA" dirty="0"/>
              <a:t> Improved retention and reduced study time.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19516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5EEBF-397D-4A66-DF30-21171FCB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3404A-7DD1-12D8-1F90-5EE590172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22476"/>
            <a:ext cx="9905999" cy="3541714"/>
          </a:xfrm>
        </p:spPr>
        <p:txBody>
          <a:bodyPr/>
          <a:lstStyle/>
          <a:p>
            <a:pPr lvl="0"/>
            <a:r>
              <a:rPr lang="en-ZA" b="1" dirty="0"/>
              <a:t>Study Assistant Chatbot</a:t>
            </a:r>
            <a:r>
              <a:rPr lang="en-ZA" dirty="0"/>
              <a:t> (built with Botpress).</a:t>
            </a:r>
          </a:p>
          <a:p>
            <a:pPr lvl="0"/>
            <a:r>
              <a:rPr lang="en-ZA" dirty="0"/>
              <a:t>Users paste notes into the chatbot.</a:t>
            </a:r>
          </a:p>
          <a:p>
            <a:pPr lvl="0"/>
            <a:r>
              <a:rPr lang="en-ZA" dirty="0"/>
              <a:t>Bot can:</a:t>
            </a:r>
          </a:p>
          <a:p>
            <a:pPr lvl="1"/>
            <a:r>
              <a:rPr lang="en-ZA" dirty="0"/>
              <a:t>Summarize notes.</a:t>
            </a:r>
          </a:p>
          <a:p>
            <a:pPr lvl="1"/>
            <a:r>
              <a:rPr lang="en-ZA" dirty="0"/>
              <a:t>Explain concepts.</a:t>
            </a:r>
          </a:p>
          <a:p>
            <a:pPr lvl="1"/>
            <a:r>
              <a:rPr lang="en-ZA" dirty="0"/>
              <a:t>Generate interactive quizzes.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5208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E8D8A-447E-9888-7124-648D04FEE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0DE76-F1F2-6743-A7EF-8204CD64C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ZA" dirty="0"/>
              <a:t>LINK TO STUDY ASSISTANT: </a:t>
            </a:r>
            <a:r>
              <a:rPr lang="en-ZA" dirty="0">
                <a:hlinkClick r:id="rId2"/>
              </a:rPr>
              <a:t>https://cdn.botpress.cloud/webchat/v3.2/shareable.html?configUrl=https://files.bpcontent.cloud/2025/08/27/09/20250827091647-NHHTAVQZ.json</a:t>
            </a:r>
            <a:endParaRPr lang="en-ZA" dirty="0"/>
          </a:p>
          <a:p>
            <a:pPr lvl="0"/>
            <a:r>
              <a:rPr lang="en-ZA" dirty="0"/>
              <a:t>Paste notes into the chatbot.</a:t>
            </a:r>
          </a:p>
          <a:p>
            <a:pPr lvl="0"/>
            <a:r>
              <a:rPr lang="en-ZA" dirty="0"/>
              <a:t>Ask it to </a:t>
            </a:r>
            <a:r>
              <a:rPr lang="en-ZA" b="1" dirty="0"/>
              <a:t>Summarize, Explain, or Generate a Quiz</a:t>
            </a:r>
            <a:r>
              <a:rPr lang="en-ZA" dirty="0"/>
              <a:t>.</a:t>
            </a:r>
          </a:p>
          <a:p>
            <a:pPr lvl="0"/>
            <a:r>
              <a:rPr lang="en-ZA" dirty="0"/>
              <a:t>See real-time outputs:</a:t>
            </a:r>
          </a:p>
          <a:p>
            <a:pPr lvl="1"/>
            <a:r>
              <a:rPr lang="en-ZA" dirty="0"/>
              <a:t>Summaries with glossary</a:t>
            </a:r>
          </a:p>
          <a:p>
            <a:pPr lvl="1"/>
            <a:r>
              <a:rPr lang="en-ZA" dirty="0"/>
              <a:t>Explanations with analogies</a:t>
            </a:r>
          </a:p>
          <a:p>
            <a:pPr lvl="1"/>
            <a:r>
              <a:rPr lang="en-ZA" dirty="0"/>
              <a:t>Multiple-choice quizzes with feedback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11902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C38F-7DC1-7416-661C-3D2DA6EF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input and processing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E4551-2C7B-3342-827D-00C119896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Data Input: User-pasted text. </a:t>
            </a:r>
          </a:p>
          <a:p>
            <a:r>
              <a:rPr lang="en-ZA" dirty="0"/>
              <a:t> AI Processing: </a:t>
            </a:r>
          </a:p>
          <a:p>
            <a:pPr marL="0" indent="0">
              <a:buNone/>
            </a:pPr>
            <a:r>
              <a:rPr lang="en-ZA" dirty="0"/>
              <a:t>o Summarization → 2 paragraphs + bullet points. </a:t>
            </a:r>
          </a:p>
          <a:p>
            <a:pPr marL="0" indent="0">
              <a:buNone/>
            </a:pPr>
            <a:r>
              <a:rPr lang="en-ZA" dirty="0"/>
              <a:t>o Explanation → Definitions, analogies, steps. </a:t>
            </a:r>
          </a:p>
          <a:p>
            <a:pPr marL="0" indent="0">
              <a:buNone/>
            </a:pPr>
            <a:r>
              <a:rPr lang="en-ZA" dirty="0"/>
              <a:t>o Quiz → Multiple-choice questions with feedback. </a:t>
            </a:r>
          </a:p>
        </p:txBody>
      </p:sp>
    </p:spTree>
    <p:extLst>
      <p:ext uri="{BB962C8B-B14F-4D97-AF65-F5344CB8AC3E}">
        <p14:creationId xmlns:p14="http://schemas.microsoft.com/office/powerpoint/2010/main" val="1822971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CDBE-D940-C20A-9C33-7BB3F941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User-friendly output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A390E-1DC6-BC0E-6DB5-B7D64534E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Summaries: Clear and concise. </a:t>
            </a:r>
          </a:p>
          <a:p>
            <a:r>
              <a:rPr lang="en-US" dirty="0"/>
              <a:t>Explanations: With analogies + practice questions. </a:t>
            </a:r>
          </a:p>
          <a:p>
            <a:r>
              <a:rPr lang="en-US" dirty="0"/>
              <a:t>Quizzes: Multiple choice, one question at a time, with feedback.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20146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D6B8E-7CE2-6245-BB2E-8735D7B50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64176-F43F-FA7D-400E-EBC14054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60867"/>
            <a:ext cx="9905999" cy="3541714"/>
          </a:xfrm>
        </p:spPr>
        <p:txBody>
          <a:bodyPr>
            <a:normAutofit/>
          </a:bodyPr>
          <a:lstStyle/>
          <a:p>
            <a:r>
              <a:rPr lang="en-US" sz="2800" dirty="0"/>
              <a:t>Gibberish input → “I do not understand…” </a:t>
            </a:r>
          </a:p>
          <a:p>
            <a:r>
              <a:rPr lang="en-US" sz="2800" dirty="0"/>
              <a:t>Off-topic questions → “Please ask something related to the notes.” </a:t>
            </a:r>
            <a:endParaRPr lang="en-ZA" sz="2800" dirty="0"/>
          </a:p>
        </p:txBody>
      </p:sp>
    </p:spTree>
    <p:extLst>
      <p:ext uri="{BB962C8B-B14F-4D97-AF65-F5344CB8AC3E}">
        <p14:creationId xmlns:p14="http://schemas.microsoft.com/office/powerpoint/2010/main" val="2611870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FB7FF-93EF-2DC1-2E93-1CCC8F6AD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interaction flow</a:t>
            </a:r>
            <a:endParaRPr lang="en-ZA" dirty="0"/>
          </a:p>
        </p:txBody>
      </p:sp>
      <p:pic>
        <p:nvPicPr>
          <p:cNvPr id="5" name="Content Placeholder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67C8EFF4-83AF-BC14-F7B2-E82C397FE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289" y="1957841"/>
            <a:ext cx="2638079" cy="43647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D11E1011-0033-C98F-D99C-625F43250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333" y="1957841"/>
            <a:ext cx="2749595" cy="43794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98FC1B90-7763-0596-2B05-8AA4D8294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893" y="1957841"/>
            <a:ext cx="2749595" cy="43647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 descr="A screenshot of a quiz&#10;&#10;AI-generated content may be incorrect.">
            <a:extLst>
              <a:ext uri="{FF2B5EF4-FFF2-40B4-BE49-F238E27FC236}">
                <a16:creationId xmlns:a16="http://schemas.microsoft.com/office/drawing/2014/main" id="{EC2BD5BE-055E-5700-88D2-ED155E24ED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3296" y="1957841"/>
            <a:ext cx="2608796" cy="43794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74498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3A690-415C-77AA-C54C-AEFF55B21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INTERACTION FLOW</a:t>
            </a:r>
            <a:endParaRPr lang="en-ZA" dirty="0"/>
          </a:p>
        </p:txBody>
      </p:sp>
      <p:pic>
        <p:nvPicPr>
          <p:cNvPr id="5" name="Content Placeholder 4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D0A1005F-DFC8-3AA0-447E-E68123239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1963712"/>
            <a:ext cx="2653258" cy="4064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456739A3-D6DE-5E29-D7ED-F2712EB8A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630" y="1963711"/>
            <a:ext cx="2653259" cy="4064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4E8D6FB2-F5CA-0BEA-2705-A6B292869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1848" y="1963711"/>
            <a:ext cx="2653257" cy="40649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20514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2">
            <a:extLst>
              <a:ext uri="{FF2B5EF4-FFF2-40B4-BE49-F238E27FC236}">
                <a16:creationId xmlns:a16="http://schemas.microsoft.com/office/drawing/2014/main" id="{50C065C3-0FE3-4452-B765-CB05BBB2A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795E515-5F57-431F-9A0D-3A0419DF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7" name="Rectangle 5">
              <a:extLst>
                <a:ext uri="{FF2B5EF4-FFF2-40B4-BE49-F238E27FC236}">
                  <a16:creationId xmlns:a16="http://schemas.microsoft.com/office/drawing/2014/main" id="{D45BCBFE-0478-4767-BF2E-FC2C548BA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8" name="Freeform 6">
              <a:extLst>
                <a:ext uri="{FF2B5EF4-FFF2-40B4-BE49-F238E27FC236}">
                  <a16:creationId xmlns:a16="http://schemas.microsoft.com/office/drawing/2014/main" id="{E903928F-F6DA-470C-81A0-CF7D9DE03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09" name="Freeform 7">
              <a:extLst>
                <a:ext uri="{FF2B5EF4-FFF2-40B4-BE49-F238E27FC236}">
                  <a16:creationId xmlns:a16="http://schemas.microsoft.com/office/drawing/2014/main" id="{ADA095F6-E326-4450-A2D6-DB2BF989B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0" name="Rectangle 8">
              <a:extLst>
                <a:ext uri="{FF2B5EF4-FFF2-40B4-BE49-F238E27FC236}">
                  <a16:creationId xmlns:a16="http://schemas.microsoft.com/office/drawing/2014/main" id="{6B067F9A-FDF2-49EC-B4FF-CD4B90F78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1" name="Freeform 9">
              <a:extLst>
                <a:ext uri="{FF2B5EF4-FFF2-40B4-BE49-F238E27FC236}">
                  <a16:creationId xmlns:a16="http://schemas.microsoft.com/office/drawing/2014/main" id="{F1331213-D19D-49FC-8616-168A14565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2" name="Freeform 10">
              <a:extLst>
                <a:ext uri="{FF2B5EF4-FFF2-40B4-BE49-F238E27FC236}">
                  <a16:creationId xmlns:a16="http://schemas.microsoft.com/office/drawing/2014/main" id="{2ADFE242-96FC-4A14-8C59-90CD6DE1D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3" name="Freeform 11">
              <a:extLst>
                <a:ext uri="{FF2B5EF4-FFF2-40B4-BE49-F238E27FC236}">
                  <a16:creationId xmlns:a16="http://schemas.microsoft.com/office/drawing/2014/main" id="{6A97B7BC-40BD-494B-9C6B-AF3045559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4" name="Freeform 12">
              <a:extLst>
                <a:ext uri="{FF2B5EF4-FFF2-40B4-BE49-F238E27FC236}">
                  <a16:creationId xmlns:a16="http://schemas.microsoft.com/office/drawing/2014/main" id="{3D7F35CF-F44C-491F-904D-A31ED8321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5" name="Freeform 13">
              <a:extLst>
                <a:ext uri="{FF2B5EF4-FFF2-40B4-BE49-F238E27FC236}">
                  <a16:creationId xmlns:a16="http://schemas.microsoft.com/office/drawing/2014/main" id="{84D9BF7E-18C2-452C-B139-4ED58D7A0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6" name="Freeform 14">
              <a:extLst>
                <a:ext uri="{FF2B5EF4-FFF2-40B4-BE49-F238E27FC236}">
                  <a16:creationId xmlns:a16="http://schemas.microsoft.com/office/drawing/2014/main" id="{700A6223-AD38-426F-A6FE-7926CAEF3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7" name="Freeform 15">
              <a:extLst>
                <a:ext uri="{FF2B5EF4-FFF2-40B4-BE49-F238E27FC236}">
                  <a16:creationId xmlns:a16="http://schemas.microsoft.com/office/drawing/2014/main" id="{D172AA94-449F-45EB-94E6-67C186C32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8" name="Freeform 16">
              <a:extLst>
                <a:ext uri="{FF2B5EF4-FFF2-40B4-BE49-F238E27FC236}">
                  <a16:creationId xmlns:a16="http://schemas.microsoft.com/office/drawing/2014/main" id="{A7D4F697-8937-4F4C-83C5-770B3FCB8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19" name="Freeform 17">
              <a:extLst>
                <a:ext uri="{FF2B5EF4-FFF2-40B4-BE49-F238E27FC236}">
                  <a16:creationId xmlns:a16="http://schemas.microsoft.com/office/drawing/2014/main" id="{10AF1D59-5117-4D47-8414-4BB61F944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20" name="Freeform 18">
              <a:extLst>
                <a:ext uri="{FF2B5EF4-FFF2-40B4-BE49-F238E27FC236}">
                  <a16:creationId xmlns:a16="http://schemas.microsoft.com/office/drawing/2014/main" id="{2387DC33-88B3-4718-8C94-41659EA33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21" name="Freeform 19">
              <a:extLst>
                <a:ext uri="{FF2B5EF4-FFF2-40B4-BE49-F238E27FC236}">
                  <a16:creationId xmlns:a16="http://schemas.microsoft.com/office/drawing/2014/main" id="{D4E7EC64-4763-4F04-B2E4-E400364D7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22" name="Freeform 20">
              <a:extLst>
                <a:ext uri="{FF2B5EF4-FFF2-40B4-BE49-F238E27FC236}">
                  <a16:creationId xmlns:a16="http://schemas.microsoft.com/office/drawing/2014/main" id="{581717DF-9FD4-47CB-9579-E34DF7E87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23" name="Freeform 21">
              <a:extLst>
                <a:ext uri="{FF2B5EF4-FFF2-40B4-BE49-F238E27FC236}">
                  <a16:creationId xmlns:a16="http://schemas.microsoft.com/office/drawing/2014/main" id="{BCD8EF50-6E58-4B2D-90B6-AFF236A73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24" name="Freeform 22">
              <a:extLst>
                <a:ext uri="{FF2B5EF4-FFF2-40B4-BE49-F238E27FC236}">
                  <a16:creationId xmlns:a16="http://schemas.microsoft.com/office/drawing/2014/main" id="{6524A268-142A-4CBF-BB8B-DC1FCBC8F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25" name="Freeform 23">
              <a:extLst>
                <a:ext uri="{FF2B5EF4-FFF2-40B4-BE49-F238E27FC236}">
                  <a16:creationId xmlns:a16="http://schemas.microsoft.com/office/drawing/2014/main" id="{56A0E6F3-B76B-4813-B44B-56CE11A8A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26" name="Freeform 24">
              <a:extLst>
                <a:ext uri="{FF2B5EF4-FFF2-40B4-BE49-F238E27FC236}">
                  <a16:creationId xmlns:a16="http://schemas.microsoft.com/office/drawing/2014/main" id="{A74CED8D-B902-4B76-9CC8-30A09B2FA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27" name="Freeform 25">
              <a:extLst>
                <a:ext uri="{FF2B5EF4-FFF2-40B4-BE49-F238E27FC236}">
                  <a16:creationId xmlns:a16="http://schemas.microsoft.com/office/drawing/2014/main" id="{ED007BD7-ED56-4566-B1FF-707160024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28" name="Freeform 26">
              <a:extLst>
                <a:ext uri="{FF2B5EF4-FFF2-40B4-BE49-F238E27FC236}">
                  <a16:creationId xmlns:a16="http://schemas.microsoft.com/office/drawing/2014/main" id="{90AD48D2-5BC8-4C80-B126-B1A20124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29" name="Freeform 27">
              <a:extLst>
                <a:ext uri="{FF2B5EF4-FFF2-40B4-BE49-F238E27FC236}">
                  <a16:creationId xmlns:a16="http://schemas.microsoft.com/office/drawing/2014/main" id="{BE14C82F-9F35-4D61-B758-7BCE32DEC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30" name="Freeform 28">
              <a:extLst>
                <a:ext uri="{FF2B5EF4-FFF2-40B4-BE49-F238E27FC236}">
                  <a16:creationId xmlns:a16="http://schemas.microsoft.com/office/drawing/2014/main" id="{6540CE06-9028-497A-AC64-CF0ED60A7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31" name="Freeform 29">
              <a:extLst>
                <a:ext uri="{FF2B5EF4-FFF2-40B4-BE49-F238E27FC236}">
                  <a16:creationId xmlns:a16="http://schemas.microsoft.com/office/drawing/2014/main" id="{A4825B3B-52CD-4F08-BA02-6C2B0EFE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32" name="Freeform 30">
              <a:extLst>
                <a:ext uri="{FF2B5EF4-FFF2-40B4-BE49-F238E27FC236}">
                  <a16:creationId xmlns:a16="http://schemas.microsoft.com/office/drawing/2014/main" id="{6877A5EF-B8B8-44D3-AA57-4BBF89206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33" name="Freeform 31">
              <a:extLst>
                <a:ext uri="{FF2B5EF4-FFF2-40B4-BE49-F238E27FC236}">
                  <a16:creationId xmlns:a16="http://schemas.microsoft.com/office/drawing/2014/main" id="{00BB365C-9180-4208-92CF-AB6A88848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34" name="Freeform 32">
              <a:extLst>
                <a:ext uri="{FF2B5EF4-FFF2-40B4-BE49-F238E27FC236}">
                  <a16:creationId xmlns:a16="http://schemas.microsoft.com/office/drawing/2014/main" id="{8D1134D2-53A6-41D5-AC1A-5254A2FBD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35" name="Rectangle 33">
              <a:extLst>
                <a:ext uri="{FF2B5EF4-FFF2-40B4-BE49-F238E27FC236}">
                  <a16:creationId xmlns:a16="http://schemas.microsoft.com/office/drawing/2014/main" id="{24C7FA73-07CD-479A-9B9E-DAD4D3B2B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36" name="Freeform 34">
              <a:extLst>
                <a:ext uri="{FF2B5EF4-FFF2-40B4-BE49-F238E27FC236}">
                  <a16:creationId xmlns:a16="http://schemas.microsoft.com/office/drawing/2014/main" id="{AB24DF92-B081-4701-B58D-913261A00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37" name="Freeform 35">
              <a:extLst>
                <a:ext uri="{FF2B5EF4-FFF2-40B4-BE49-F238E27FC236}">
                  <a16:creationId xmlns:a16="http://schemas.microsoft.com/office/drawing/2014/main" id="{AB4DF275-6B82-4AA9-A7A9-138E631E30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38" name="Freeform 36">
              <a:extLst>
                <a:ext uri="{FF2B5EF4-FFF2-40B4-BE49-F238E27FC236}">
                  <a16:creationId xmlns:a16="http://schemas.microsoft.com/office/drawing/2014/main" id="{972A3812-16AD-453E-B1E6-9F39894F7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39" name="Freeform 37">
              <a:extLst>
                <a:ext uri="{FF2B5EF4-FFF2-40B4-BE49-F238E27FC236}">
                  <a16:creationId xmlns:a16="http://schemas.microsoft.com/office/drawing/2014/main" id="{8FB6759A-BAD8-4073-86A2-6DDD73DE2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0" name="Freeform 38">
              <a:extLst>
                <a:ext uri="{FF2B5EF4-FFF2-40B4-BE49-F238E27FC236}">
                  <a16:creationId xmlns:a16="http://schemas.microsoft.com/office/drawing/2014/main" id="{9FCCB0F4-1178-47C1-9EE2-234EA715C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1" name="Freeform 39">
              <a:extLst>
                <a:ext uri="{FF2B5EF4-FFF2-40B4-BE49-F238E27FC236}">
                  <a16:creationId xmlns:a16="http://schemas.microsoft.com/office/drawing/2014/main" id="{CB01BF0B-7EB0-4C18-80BE-20D2EAC04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2" name="Freeform 40">
              <a:extLst>
                <a:ext uri="{FF2B5EF4-FFF2-40B4-BE49-F238E27FC236}">
                  <a16:creationId xmlns:a16="http://schemas.microsoft.com/office/drawing/2014/main" id="{3266E9DA-C937-48E0-8F98-90A467760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3" name="Freeform 41">
              <a:extLst>
                <a:ext uri="{FF2B5EF4-FFF2-40B4-BE49-F238E27FC236}">
                  <a16:creationId xmlns:a16="http://schemas.microsoft.com/office/drawing/2014/main" id="{A8A9C00D-0425-4E68-A1DE-BCE5BD6BB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4" name="Freeform 42">
              <a:extLst>
                <a:ext uri="{FF2B5EF4-FFF2-40B4-BE49-F238E27FC236}">
                  <a16:creationId xmlns:a16="http://schemas.microsoft.com/office/drawing/2014/main" id="{46230904-E744-4B55-84FF-826A6B737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5" name="Freeform 43">
              <a:extLst>
                <a:ext uri="{FF2B5EF4-FFF2-40B4-BE49-F238E27FC236}">
                  <a16:creationId xmlns:a16="http://schemas.microsoft.com/office/drawing/2014/main" id="{D4291668-8AF0-4784-BC06-870768F53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6" name="Freeform 44">
              <a:extLst>
                <a:ext uri="{FF2B5EF4-FFF2-40B4-BE49-F238E27FC236}">
                  <a16:creationId xmlns:a16="http://schemas.microsoft.com/office/drawing/2014/main" id="{D917DCBD-774B-4AAF-92AE-D18289FFC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7" name="Rectangle 45">
              <a:extLst>
                <a:ext uri="{FF2B5EF4-FFF2-40B4-BE49-F238E27FC236}">
                  <a16:creationId xmlns:a16="http://schemas.microsoft.com/office/drawing/2014/main" id="{9E50122E-0F19-4D65-9CB2-E22C3EA84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8" name="Freeform 46">
              <a:extLst>
                <a:ext uri="{FF2B5EF4-FFF2-40B4-BE49-F238E27FC236}">
                  <a16:creationId xmlns:a16="http://schemas.microsoft.com/office/drawing/2014/main" id="{BC28A765-6E8B-4352-BD0C-35474F70A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49" name="Freeform 47">
              <a:extLst>
                <a:ext uri="{FF2B5EF4-FFF2-40B4-BE49-F238E27FC236}">
                  <a16:creationId xmlns:a16="http://schemas.microsoft.com/office/drawing/2014/main" id="{0AC30A17-F494-44EB-9817-1B8B255CE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0" name="Freeform 48">
              <a:extLst>
                <a:ext uri="{FF2B5EF4-FFF2-40B4-BE49-F238E27FC236}">
                  <a16:creationId xmlns:a16="http://schemas.microsoft.com/office/drawing/2014/main" id="{6088D59F-32BD-4932-9C22-9AA0FCDA7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1" name="Freeform 49">
              <a:extLst>
                <a:ext uri="{FF2B5EF4-FFF2-40B4-BE49-F238E27FC236}">
                  <a16:creationId xmlns:a16="http://schemas.microsoft.com/office/drawing/2014/main" id="{B18BBE45-5F21-47FA-B291-AC802D715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2" name="Freeform 50">
              <a:extLst>
                <a:ext uri="{FF2B5EF4-FFF2-40B4-BE49-F238E27FC236}">
                  <a16:creationId xmlns:a16="http://schemas.microsoft.com/office/drawing/2014/main" id="{A1BD992D-1C4B-4E69-A627-A45D8958E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3" name="Freeform 51">
              <a:extLst>
                <a:ext uri="{FF2B5EF4-FFF2-40B4-BE49-F238E27FC236}">
                  <a16:creationId xmlns:a16="http://schemas.microsoft.com/office/drawing/2014/main" id="{571C0498-7105-455E-8B0A-233F850F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4" name="Freeform 52">
              <a:extLst>
                <a:ext uri="{FF2B5EF4-FFF2-40B4-BE49-F238E27FC236}">
                  <a16:creationId xmlns:a16="http://schemas.microsoft.com/office/drawing/2014/main" id="{F6FA78CC-C0B1-422F-B535-05580A971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5" name="Freeform 53">
              <a:extLst>
                <a:ext uri="{FF2B5EF4-FFF2-40B4-BE49-F238E27FC236}">
                  <a16:creationId xmlns:a16="http://schemas.microsoft.com/office/drawing/2014/main" id="{49A1BACF-EE5E-46F8-8968-D4CF18BC0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6" name="Freeform 54">
              <a:extLst>
                <a:ext uri="{FF2B5EF4-FFF2-40B4-BE49-F238E27FC236}">
                  <a16:creationId xmlns:a16="http://schemas.microsoft.com/office/drawing/2014/main" id="{0AF8DFAF-8AF7-453E-AED7-89E59FBD7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7" name="Freeform 55">
              <a:extLst>
                <a:ext uri="{FF2B5EF4-FFF2-40B4-BE49-F238E27FC236}">
                  <a16:creationId xmlns:a16="http://schemas.microsoft.com/office/drawing/2014/main" id="{F8C26D97-8DA4-4556-92E4-2AE66B36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8" name="Freeform 56">
              <a:extLst>
                <a:ext uri="{FF2B5EF4-FFF2-40B4-BE49-F238E27FC236}">
                  <a16:creationId xmlns:a16="http://schemas.microsoft.com/office/drawing/2014/main" id="{EEF9D855-A8A7-44CC-919C-BEA327F25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59" name="Freeform 57">
              <a:extLst>
                <a:ext uri="{FF2B5EF4-FFF2-40B4-BE49-F238E27FC236}">
                  <a16:creationId xmlns:a16="http://schemas.microsoft.com/office/drawing/2014/main" id="{11F0B045-803C-4067-A182-066EEB2C4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160" name="Freeform 58">
              <a:extLst>
                <a:ext uri="{FF2B5EF4-FFF2-40B4-BE49-F238E27FC236}">
                  <a16:creationId xmlns:a16="http://schemas.microsoft.com/office/drawing/2014/main" id="{3C1FCACB-EFEF-4B54-99A6-E327A637C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B954C2-580F-E19D-2EB5-A7BF6F3EA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2908" y="785403"/>
            <a:ext cx="3734941" cy="122872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dirty="0">
                <a:solidFill>
                  <a:schemeClr val="bg1"/>
                </a:solidFill>
              </a:rPr>
              <a:t>Data Flow 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72732-2117-6BAE-6F6D-4278D4B28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460" y="2192338"/>
            <a:ext cx="4449317" cy="145415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cap="all" dirty="0">
                <a:solidFill>
                  <a:schemeClr val="bg1"/>
                </a:solidFill>
              </a:rPr>
              <a:t>Data Flow Diagram: User → Bot → Notes → AI Processing → Output</a:t>
            </a:r>
          </a:p>
        </p:txBody>
      </p:sp>
      <p:sp>
        <p:nvSpPr>
          <p:cNvPr id="162" name="Round Diagonal Corner Rectangle 6">
            <a:extLst>
              <a:ext uri="{FF2B5EF4-FFF2-40B4-BE49-F238E27FC236}">
                <a16:creationId xmlns:a16="http://schemas.microsoft.com/office/drawing/2014/main" id="{01958E0A-0BC1-424F-9B41-D614FC13A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808057"/>
            <a:ext cx="5286376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689A113-AA36-F6F0-83AF-74D4DB5C0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212" y="912814"/>
            <a:ext cx="4981575" cy="503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62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046B922C-5BA7-4973-B12F-71A509E4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6D34D8D-9EE9-4659-8C22-7551A95F9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CA93C16-1147-4EB3-B4E7-3C43102494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56" name="Rectangle 5">
                <a:extLst>
                  <a:ext uri="{FF2B5EF4-FFF2-40B4-BE49-F238E27FC236}">
                    <a16:creationId xmlns:a16="http://schemas.microsoft.com/office/drawing/2014/main" id="{C4779968-92AF-4B85-8C27-EBBFE1D699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7" name="Freeform 6">
                <a:extLst>
                  <a:ext uri="{FF2B5EF4-FFF2-40B4-BE49-F238E27FC236}">
                    <a16:creationId xmlns:a16="http://schemas.microsoft.com/office/drawing/2014/main" id="{2C43E18D-7024-4F17-A664-E23BFBC12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8" name="Freeform 7">
                <a:extLst>
                  <a:ext uri="{FF2B5EF4-FFF2-40B4-BE49-F238E27FC236}">
                    <a16:creationId xmlns:a16="http://schemas.microsoft.com/office/drawing/2014/main" id="{CA2ACEBA-081B-4B0B-AFB1-C596B834FD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2AFBB163-514B-493A-983F-8BE96848F9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60" name="Freeform 9">
                <a:extLst>
                  <a:ext uri="{FF2B5EF4-FFF2-40B4-BE49-F238E27FC236}">
                    <a16:creationId xmlns:a16="http://schemas.microsoft.com/office/drawing/2014/main" id="{7720326C-7DB1-4745-9015-3FA6990855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61" name="Freeform 10">
                <a:extLst>
                  <a:ext uri="{FF2B5EF4-FFF2-40B4-BE49-F238E27FC236}">
                    <a16:creationId xmlns:a16="http://schemas.microsoft.com/office/drawing/2014/main" id="{01D5FBDC-A284-440B-8D5F-84287B0A25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62" name="Freeform 11">
                <a:extLst>
                  <a:ext uri="{FF2B5EF4-FFF2-40B4-BE49-F238E27FC236}">
                    <a16:creationId xmlns:a16="http://schemas.microsoft.com/office/drawing/2014/main" id="{517CE611-1CB0-442B-8998-98487209B0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63" name="Freeform 12">
                <a:extLst>
                  <a:ext uri="{FF2B5EF4-FFF2-40B4-BE49-F238E27FC236}">
                    <a16:creationId xmlns:a16="http://schemas.microsoft.com/office/drawing/2014/main" id="{EF0F0E46-9222-4FCF-A79E-9B4953C6F0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64" name="Freeform 13">
                <a:extLst>
                  <a:ext uri="{FF2B5EF4-FFF2-40B4-BE49-F238E27FC236}">
                    <a16:creationId xmlns:a16="http://schemas.microsoft.com/office/drawing/2014/main" id="{371A87C3-0804-4AB9-8EAD-FBFF597ED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65" name="Freeform 14">
                <a:extLst>
                  <a:ext uri="{FF2B5EF4-FFF2-40B4-BE49-F238E27FC236}">
                    <a16:creationId xmlns:a16="http://schemas.microsoft.com/office/drawing/2014/main" id="{89F39433-8BC3-48D6-B705-F951DBDAAB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66" name="Freeform 15">
                <a:extLst>
                  <a:ext uri="{FF2B5EF4-FFF2-40B4-BE49-F238E27FC236}">
                    <a16:creationId xmlns:a16="http://schemas.microsoft.com/office/drawing/2014/main" id="{AE671C9D-E91C-4143-A422-273B2F53F6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67" name="Line 16">
                <a:extLst>
                  <a:ext uri="{FF2B5EF4-FFF2-40B4-BE49-F238E27FC236}">
                    <a16:creationId xmlns:a16="http://schemas.microsoft.com/office/drawing/2014/main" id="{83A72EA3-8833-41C6-9333-6A04C1C08D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68" name="Freeform 17">
                <a:extLst>
                  <a:ext uri="{FF2B5EF4-FFF2-40B4-BE49-F238E27FC236}">
                    <a16:creationId xmlns:a16="http://schemas.microsoft.com/office/drawing/2014/main" id="{2C0D7AAB-DC9C-4B37-A50E-A7185DE92E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69" name="Freeform 18">
                <a:extLst>
                  <a:ext uri="{FF2B5EF4-FFF2-40B4-BE49-F238E27FC236}">
                    <a16:creationId xmlns:a16="http://schemas.microsoft.com/office/drawing/2014/main" id="{6E7D9D6B-3455-4363-934B-FA2D682931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70" name="Freeform 19">
                <a:extLst>
                  <a:ext uri="{FF2B5EF4-FFF2-40B4-BE49-F238E27FC236}">
                    <a16:creationId xmlns:a16="http://schemas.microsoft.com/office/drawing/2014/main" id="{FFFFCA54-2217-4DAE-B791-4A6CA7DE0B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71" name="Freeform 20">
                <a:extLst>
                  <a:ext uri="{FF2B5EF4-FFF2-40B4-BE49-F238E27FC236}">
                    <a16:creationId xmlns:a16="http://schemas.microsoft.com/office/drawing/2014/main" id="{BAE43BA5-C104-4FBB-B1C6-C210D3CC53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72" name="Rectangle 21">
                <a:extLst>
                  <a:ext uri="{FF2B5EF4-FFF2-40B4-BE49-F238E27FC236}">
                    <a16:creationId xmlns:a16="http://schemas.microsoft.com/office/drawing/2014/main" id="{3BDB2330-DF01-460D-83FB-00C37965C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51261093-9B7F-4406-B2F8-0F5BE7676A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9971E195-2AB6-4CB6-9BD7-A8407B5C80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A3D843E7-8A86-4676-9C98-DECE0DFF67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FAF42817-AB3E-40FA-997F-EAC1411F4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50ED3298-A6DC-4825-93B1-68DB8CB629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id="{2B951778-3B6B-4BB9-9D89-2ED650C82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id="{8F3ED9A8-A83F-463A-8C2E-E83977D9A9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9A0C113E-781D-4083-86C0-EC936092D2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id="{B63D60EF-1E99-4D4C-BF11-AAF8ABEB86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50403E41-7079-49EA-8D0B-4F678552D9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E3B2C458-4D37-49A0-A94E-D516E05C3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4" name="Freeform 32">
                <a:extLst>
                  <a:ext uri="{FF2B5EF4-FFF2-40B4-BE49-F238E27FC236}">
                    <a16:creationId xmlns:a16="http://schemas.microsoft.com/office/drawing/2014/main" id="{C1B10016-E0C4-4526-A466-9911541D26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75" name="Freeform 33">
                <a:extLst>
                  <a:ext uri="{FF2B5EF4-FFF2-40B4-BE49-F238E27FC236}">
                    <a16:creationId xmlns:a16="http://schemas.microsoft.com/office/drawing/2014/main" id="{D574C3F0-FC2B-43A3-94B2-75D305FBF7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76" name="Freeform 34">
                <a:extLst>
                  <a:ext uri="{FF2B5EF4-FFF2-40B4-BE49-F238E27FC236}">
                    <a16:creationId xmlns:a16="http://schemas.microsoft.com/office/drawing/2014/main" id="{D92A5F66-F404-433B-BDBE-5E0DFF40D6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77" name="Freeform 35">
                <a:extLst>
                  <a:ext uri="{FF2B5EF4-FFF2-40B4-BE49-F238E27FC236}">
                    <a16:creationId xmlns:a16="http://schemas.microsoft.com/office/drawing/2014/main" id="{0A0BDF81-64CC-431D-81B1-A21938C05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78" name="Freeform 36">
                <a:extLst>
                  <a:ext uri="{FF2B5EF4-FFF2-40B4-BE49-F238E27FC236}">
                    <a16:creationId xmlns:a16="http://schemas.microsoft.com/office/drawing/2014/main" id="{42871530-50EC-42C2-879A-AE8154DADC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79" name="Freeform 37">
                <a:extLst>
                  <a:ext uri="{FF2B5EF4-FFF2-40B4-BE49-F238E27FC236}">
                    <a16:creationId xmlns:a16="http://schemas.microsoft.com/office/drawing/2014/main" id="{53AF2F2A-B148-4906-B90D-6E22239784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80" name="Freeform 38">
                <a:extLst>
                  <a:ext uri="{FF2B5EF4-FFF2-40B4-BE49-F238E27FC236}">
                    <a16:creationId xmlns:a16="http://schemas.microsoft.com/office/drawing/2014/main" id="{9A79EAA4-6F5D-4A2C-B688-CD29C2217C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81" name="Freeform 39">
                <a:extLst>
                  <a:ext uri="{FF2B5EF4-FFF2-40B4-BE49-F238E27FC236}">
                    <a16:creationId xmlns:a16="http://schemas.microsoft.com/office/drawing/2014/main" id="{B9CE5833-22CF-4408-9338-4B7749FEA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82" name="Freeform 40">
                <a:extLst>
                  <a:ext uri="{FF2B5EF4-FFF2-40B4-BE49-F238E27FC236}">
                    <a16:creationId xmlns:a16="http://schemas.microsoft.com/office/drawing/2014/main" id="{316A985A-7ADD-4BEE-A7B6-E5B49E1839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83" name="Rectangle 41">
                <a:extLst>
                  <a:ext uri="{FF2B5EF4-FFF2-40B4-BE49-F238E27FC236}">
                    <a16:creationId xmlns:a16="http://schemas.microsoft.com/office/drawing/2014/main" id="{352CFA3F-5CFE-412E-9196-C966F3457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</p:grpSp>
      <p:pic>
        <p:nvPicPr>
          <p:cNvPr id="53" name="Picture 2">
            <a:extLst>
              <a:ext uri="{FF2B5EF4-FFF2-40B4-BE49-F238E27FC236}">
                <a16:creationId xmlns:a16="http://schemas.microsoft.com/office/drawing/2014/main" id="{2FB01CCF-839B-4126-9BF9-132C64D8A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AFA135-E61E-9F8D-5668-7D493FE5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Architecture diagram</a:t>
            </a:r>
            <a:endParaRPr lang="en-ZA" dirty="0">
              <a:solidFill>
                <a:schemeClr val="bg1"/>
              </a:solidFill>
            </a:endParaRPr>
          </a:p>
        </p:txBody>
      </p:sp>
      <p:sp useBgFill="1">
        <p:nvSpPr>
          <p:cNvPr id="55" name="Round Diagonal Corner Rectangle 6">
            <a:extLst>
              <a:ext uri="{FF2B5EF4-FFF2-40B4-BE49-F238E27FC236}">
                <a16:creationId xmlns:a16="http://schemas.microsoft.com/office/drawing/2014/main" id="{F2B1468C-8227-4785-8776-7BDBDDF08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7F8972DA-9D34-FE0E-1639-17DCF745C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17" y="1159042"/>
            <a:ext cx="3178638" cy="453445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1D8C5-39B9-E8E0-C2DA-83B284CD8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501" y="1903413"/>
            <a:ext cx="6188402" cy="354171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System Architecture: Webchat UI, Botpress platform, Knowledge Base, AI engine </a:t>
            </a:r>
            <a:endParaRPr lang="en-ZA" dirty="0">
              <a:solidFill>
                <a:srgbClr val="FFFFFF"/>
              </a:solidFill>
            </a:endParaRPr>
          </a:p>
          <a:p>
            <a:endParaRPr lang="en-ZA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197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1985F-C8A0-8823-F9F2-4822F241F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Conclusion &amp; Future Improvements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2FAF3-58CA-5101-1D44-850B459EC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Achievements: Functional study assistant prototype with interactive summaries, explanations, and quizzes.</a:t>
            </a:r>
          </a:p>
          <a:p>
            <a:r>
              <a:rPr lang="en-ZA" dirty="0"/>
              <a:t>Future improvements: PDF uploads, adaptive difficulty, enhanced UI. </a:t>
            </a:r>
          </a:p>
        </p:txBody>
      </p:sp>
    </p:spTree>
    <p:extLst>
      <p:ext uri="{BB962C8B-B14F-4D97-AF65-F5344CB8AC3E}">
        <p14:creationId xmlns:p14="http://schemas.microsoft.com/office/powerpoint/2010/main" val="2682317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90F5C-7257-60E8-2A1B-C07506D1A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Q&amp;a</a:t>
            </a:r>
            <a:endParaRPr lang="en-ZA" dirty="0"/>
          </a:p>
        </p:txBody>
      </p:sp>
      <p:pic>
        <p:nvPicPr>
          <p:cNvPr id="8" name="Content Placeholder 7" descr="Cartoon of people sitting on grass outside a house&#10;&#10;AI-generated content may be incorrect.">
            <a:extLst>
              <a:ext uri="{FF2B5EF4-FFF2-40B4-BE49-F238E27FC236}">
                <a16:creationId xmlns:a16="http://schemas.microsoft.com/office/drawing/2014/main" id="{7B80F254-1837-65EC-4CA7-A24E54ECE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6810" y="1824433"/>
            <a:ext cx="7232969" cy="4068545"/>
          </a:xfrm>
        </p:spPr>
      </p:pic>
    </p:spTree>
    <p:extLst>
      <p:ext uri="{BB962C8B-B14F-4D97-AF65-F5344CB8AC3E}">
        <p14:creationId xmlns:p14="http://schemas.microsoft.com/office/powerpoint/2010/main" val="18013106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D22D37E98F684C97A8008C17469DFA" ma:contentTypeVersion="10" ma:contentTypeDescription="Create a new document." ma:contentTypeScope="" ma:versionID="ee8c0e2f39f538d46dd9cf38eb000cff">
  <xsd:schema xmlns:xsd="http://www.w3.org/2001/XMLSchema" xmlns:xs="http://www.w3.org/2001/XMLSchema" xmlns:p="http://schemas.microsoft.com/office/2006/metadata/properties" xmlns:ns2="e190c428-14cd-4363-8d02-e6303dae1658" targetNamespace="http://schemas.microsoft.com/office/2006/metadata/properties" ma:root="true" ma:fieldsID="68c5a77b69bd38747d6b975dd1c8de39" ns2:_="">
    <xsd:import namespace="e190c428-14cd-4363-8d02-e6303dae16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90c428-14cd-4363-8d02-e6303dae16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66b7f75-f62d-4b7a-b8a1-4b1a340ee1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90c428-14cd-4363-8d02-e6303dae165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3DA6866-DC15-40DA-9B9E-617D0DCD8A7D}"/>
</file>

<file path=customXml/itemProps2.xml><?xml version="1.0" encoding="utf-8"?>
<ds:datastoreItem xmlns:ds="http://schemas.openxmlformats.org/officeDocument/2006/customXml" ds:itemID="{C96BAAF5-AB10-4252-9183-C7EFF7689913}"/>
</file>

<file path=customXml/itemProps3.xml><?xml version="1.0" encoding="utf-8"?>
<ds:datastoreItem xmlns:ds="http://schemas.openxmlformats.org/officeDocument/2006/customXml" ds:itemID="{7D5E3E61-9F32-494C-A467-5F031BF39F9E}"/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350</TotalTime>
  <Words>437</Words>
  <Application>Microsoft Office PowerPoint</Application>
  <PresentationFormat>Widescreen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Circuit</vt:lpstr>
      <vt:lpstr>Ai-powered Study ASSISTANT</vt:lpstr>
      <vt:lpstr>Sector overview</vt:lpstr>
      <vt:lpstr>Existing AI APPLICATIONS IN EDUCATION</vt:lpstr>
      <vt:lpstr>Problem statement</vt:lpstr>
      <vt:lpstr>Proposed solution</vt:lpstr>
      <vt:lpstr>LIVE DEMO</vt:lpstr>
      <vt:lpstr>Data input and processing</vt:lpstr>
      <vt:lpstr>User-friendly output</vt:lpstr>
      <vt:lpstr>Error handling</vt:lpstr>
      <vt:lpstr>User interaction flow</vt:lpstr>
      <vt:lpstr>USER INTERACTION FLOW</vt:lpstr>
      <vt:lpstr>Data Flow  Diagram</vt:lpstr>
      <vt:lpstr>System Architecture diagram</vt:lpstr>
      <vt:lpstr>Conclusion &amp; Future Improvements 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Caleigh Goliath</dc:creator>
  <cp:lastModifiedBy>Caleigh Goliath</cp:lastModifiedBy>
  <cp:revision>4</cp:revision>
  <dcterms:created xsi:type="dcterms:W3CDTF">2025-08-28T08:18:36Z</dcterms:created>
  <dcterms:modified xsi:type="dcterms:W3CDTF">2025-09-01T11:03:42Z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0x010100E9D22D37E98F684C97A8008C17469DFA</vt:lpwstr>
  </property>
</Properties>
</file>